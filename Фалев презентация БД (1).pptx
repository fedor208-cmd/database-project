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68" r:id="rId3"/>
    <p:sldId id="258" r:id="rId4"/>
    <p:sldId id="257" r:id="rId5"/>
    <p:sldId id="259" r:id="rId6"/>
    <p:sldId id="264" r:id="rId7"/>
    <p:sldId id="269" r:id="rId8"/>
    <p:sldId id="265" r:id="rId9"/>
    <p:sldId id="270" r:id="rId10"/>
    <p:sldId id="266" r:id="rId11"/>
    <p:sldId id="271" r:id="rId12"/>
    <p:sldId id="273" r:id="rId13"/>
    <p:sldId id="26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16ED17-DAAB-4708-B711-BAE3D6F6EC41}" v="581" dt="2026-03-11T17:40:38.908"/>
    <p1510:client id="{49DF7EFC-D7D9-4187-83AD-A42F2AB7F9AE}" v="210" dt="2026-03-12T17:07:43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5807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1407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243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0492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295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625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604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166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0396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113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4366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41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База данных онлайн-сервиса для видеоигр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78426" y="3976262"/>
            <a:ext cx="6991776" cy="176497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400" dirty="0"/>
              <a:t>Автор: Фалев Фёдор Александрович, ученик 9М класса ГБОУ школы №67</a:t>
            </a:r>
          </a:p>
          <a:p>
            <a:r>
              <a:rPr lang="ru-RU" sz="2400" dirty="0"/>
              <a:t>Руководитель: </a:t>
            </a:r>
            <a:r>
              <a:rPr lang="ru-RU" sz="2400" dirty="0">
                <a:ea typeface="+mn-lt"/>
                <a:cs typeface="+mn-lt"/>
              </a:rPr>
              <a:t>Кисляков Иван Дмитриевич, Учитель ГБОУ Школы 67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CC4A23-5684-1A9C-4F57-1856CBD7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16" y="929148"/>
            <a:ext cx="3894432" cy="7490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ru-RU"/>
              <a:t>ЧТО ЗА ПРОЕКТ?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E600B7-E47E-E5C1-1307-046CE969D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3600"/>
              <a:t>Цели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70C831-EDF4-C0AD-0F94-ECDE22A798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800"/>
              <a:t>Научиться пользоваться SQL.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BDF27AC-00BB-795D-6313-88AD9F08A8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ru-RU" sz="3600"/>
              <a:t>Задачи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62F7AA0-BC40-A29D-0064-850CC887A8F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2800">
                <a:ea typeface="+mn-lt"/>
                <a:cs typeface="+mn-lt"/>
              </a:rPr>
              <a:t>Создать схему БД. </a:t>
            </a:r>
            <a:endParaRPr lang="ru-RU" sz="2800"/>
          </a:p>
          <a:p>
            <a:r>
              <a:rPr lang="ru-RU" sz="2800">
                <a:ea typeface="+mn-lt"/>
                <a:cs typeface="+mn-lt"/>
              </a:rPr>
              <a:t>Наполнить БД данными. </a:t>
            </a:r>
          </a:p>
          <a:p>
            <a:r>
              <a:rPr lang="ru-RU" sz="2800">
                <a:ea typeface="+mn-lt"/>
                <a:cs typeface="+mn-lt"/>
              </a:rPr>
              <a:t>Придумать задачи по ней. </a:t>
            </a:r>
          </a:p>
          <a:p>
            <a:r>
              <a:rPr lang="ru-RU" sz="2800">
                <a:ea typeface="+mn-lt"/>
                <a:cs typeface="+mn-lt"/>
              </a:rPr>
              <a:t>Защитить проект.</a:t>
            </a:r>
            <a:endParaRPr lang="ru-RU" sz="280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8DE28E2-86A9-9B25-D758-347C8FBEE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56112-F330-4AD7-B450-41D4A8C0C358}" type="datetime1">
              <a:t>3/12/2026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2A40E76-AC6D-BE02-F5ED-B14A08EFD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1460880-A552-B372-1BB8-2EBCB82C7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28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E22D3-F5E6-6F46-F3E4-A7E1BB5E0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Что за проект?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FFE89A-580B-F861-6F41-96BD3B753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3600"/>
              <a:t>Схема связей в БД</a:t>
            </a:r>
            <a:endParaRPr lang="ru-RU" sz="3600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1B6E122-4AD8-04B1-601E-37F0329A0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03E55-3441-4B0F-A4CC-6C0786FE8D69}" type="datetime1">
              <a:t>12.03.2026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664D0E7-475A-2742-7EC7-0D2DE26DA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485478-C1A6-E9DC-950A-02DDD104F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</a:t>
            </a:fld>
            <a:endParaRPr lang="en-US" dirty="0"/>
          </a:p>
        </p:txBody>
      </p:sp>
      <p:pic>
        <p:nvPicPr>
          <p:cNvPr id="10" name="Рисунок 9" descr="Изображение выглядит как текст, снимок экрана, диаграмм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F4575D-640E-70C2-E09B-B7385C889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660" y="2341707"/>
            <a:ext cx="7376679" cy="372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50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3CA1-01F1-3EE8-DB3E-CF1C1461C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Что за проект?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558808-ED96-137A-95CC-F64F49968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Описание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EDA9B3-A5B3-3FEF-4852-FD5EC1C21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0401" y="2505075"/>
            <a:ext cx="10641175" cy="342377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ru-RU" sz="2800" dirty="0">
                <a:ea typeface="+mn-lt"/>
                <a:cs typeface="+mn-lt"/>
              </a:rPr>
              <a:t>База данных онлайн сервисов для видеоигр (например </a:t>
            </a:r>
            <a:r>
              <a:rPr lang="ru-RU" sz="2800" err="1">
                <a:ea typeface="+mn-lt"/>
                <a:cs typeface="+mn-lt"/>
              </a:rPr>
              <a:t>Steam</a:t>
            </a:r>
            <a:r>
              <a:rPr lang="ru-RU" sz="2800" dirty="0">
                <a:ea typeface="+mn-lt"/>
                <a:cs typeface="+mn-lt"/>
              </a:rPr>
              <a:t> или </a:t>
            </a:r>
            <a:r>
              <a:rPr lang="ru-RU" sz="2800" err="1">
                <a:ea typeface="+mn-lt"/>
                <a:cs typeface="+mn-lt"/>
              </a:rPr>
              <a:t>Epic</a:t>
            </a:r>
            <a:r>
              <a:rPr lang="ru-RU" sz="2800" dirty="0">
                <a:ea typeface="+mn-lt"/>
                <a:cs typeface="+mn-lt"/>
              </a:rPr>
              <a:t> Games), в которой хранятся данные о пользователях, играх, их разработчиках и издателях.</a:t>
            </a:r>
          </a:p>
          <a:p>
            <a:pPr marL="0" indent="0">
              <a:buNone/>
            </a:pPr>
            <a:r>
              <a:rPr lang="ru-RU" sz="2800" dirty="0">
                <a:ea typeface="+mn-lt"/>
                <a:cs typeface="+mn-lt"/>
              </a:rPr>
              <a:t>Данные собирались вручную, на основе существующих данных онлайн-сервисов. Возможны несоответствия. 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BEA199B-4782-1120-62E2-ED2FB1F9B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A2B96-6272-4052-9D94-6A9AC76AB3A7}" type="datetime1">
              <a:t>12.03.2026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0171358-1632-1A08-54AC-FB93A0FB8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4DD1494-5428-8A23-4D7E-313C8E3C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839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17F2B7-B6BF-02AE-9405-33592A4E4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данные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4A0BB3-D3C1-F4E8-F705-20EF22382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0401" y="1705199"/>
            <a:ext cx="2388826" cy="563917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2000" dirty="0"/>
              <a:t>Таблица "</a:t>
            </a:r>
            <a:r>
              <a:rPr lang="ru-RU" sz="2000" err="1"/>
              <a:t>User_data</a:t>
            </a:r>
            <a:r>
              <a:rPr lang="ru-RU" sz="2000" dirty="0"/>
              <a:t>"</a:t>
            </a:r>
            <a:endParaRPr lang="ru-RU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C280E2B-264B-ADF8-E942-3989BAB12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8390-B9B7-4310-9B85-F1B30E4E65DE}" type="datetime1">
              <a:t>12.03.2026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3568FB8-F99C-F86E-7764-5BF708F90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7A1613C-6488-286B-C6F0-C4CDC7658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5</a:t>
            </a:fld>
            <a:endParaRPr lang="en-US" dirty="0"/>
          </a:p>
        </p:txBody>
      </p:sp>
      <p:pic>
        <p:nvPicPr>
          <p:cNvPr id="10" name="Рисунок 9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E7873BB-38CC-8982-8C07-8C53B35F0D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49" t="72" r="180" b="59062"/>
          <a:stretch>
            <a:fillRect/>
          </a:stretch>
        </p:blipFill>
        <p:spPr>
          <a:xfrm>
            <a:off x="685937" y="2257652"/>
            <a:ext cx="4790101" cy="11878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B33ED4-1377-9930-8B45-008AD5FFBB48}"/>
              </a:ext>
            </a:extLst>
          </p:cNvPr>
          <p:cNvSpPr txBox="1"/>
          <p:nvPr/>
        </p:nvSpPr>
        <p:spPr>
          <a:xfrm>
            <a:off x="3049581" y="1791041"/>
            <a:ext cx="230485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000" dirty="0"/>
              <a:t>Все люди </a:t>
            </a:r>
            <a:r>
              <a:rPr lang="ru-RU" sz="1000" dirty="0">
                <a:ea typeface="+mn-lt"/>
                <a:cs typeface="+mn-lt"/>
              </a:rPr>
              <a:t>вымышлены, любые совпадения случайны.</a:t>
            </a:r>
          </a:p>
        </p:txBody>
      </p:sp>
      <p:pic>
        <p:nvPicPr>
          <p:cNvPr id="5" name="Рисунок 4" descr="Изображение выглядит как текст, Шрифт, число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4A0CC9-D4DC-C7E3-9448-6291AA2096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21" r="326" b="49508"/>
          <a:stretch>
            <a:fillRect/>
          </a:stretch>
        </p:blipFill>
        <p:spPr>
          <a:xfrm>
            <a:off x="6060932" y="2179637"/>
            <a:ext cx="2299423" cy="1197380"/>
          </a:xfrm>
          <a:prstGeom prst="rect">
            <a:avLst/>
          </a:prstGeom>
        </p:spPr>
      </p:pic>
      <p:sp>
        <p:nvSpPr>
          <p:cNvPr id="12" name="Текст 2">
            <a:extLst>
              <a:ext uri="{FF2B5EF4-FFF2-40B4-BE49-F238E27FC236}">
                <a16:creationId xmlns:a16="http://schemas.microsoft.com/office/drawing/2014/main" id="{CA0D9F19-5221-845F-13D8-75B23D9F10A9}"/>
              </a:ext>
            </a:extLst>
          </p:cNvPr>
          <p:cNvSpPr txBox="1">
            <a:spLocks/>
          </p:cNvSpPr>
          <p:nvPr/>
        </p:nvSpPr>
        <p:spPr>
          <a:xfrm>
            <a:off x="6037838" y="1715798"/>
            <a:ext cx="2672920" cy="426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/>
              <a:t>Таблица "</a:t>
            </a:r>
            <a:r>
              <a:rPr lang="ru-RU" sz="2000" err="1"/>
              <a:t>Library_page</a:t>
            </a:r>
            <a:r>
              <a:rPr lang="ru-RU" sz="2000" dirty="0"/>
              <a:t>"</a:t>
            </a:r>
            <a:endParaRPr lang="ru-RU"/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0DB294DA-FCCB-FF4D-13C6-B30191722B32}"/>
              </a:ext>
            </a:extLst>
          </p:cNvPr>
          <p:cNvSpPr txBox="1">
            <a:spLocks/>
          </p:cNvSpPr>
          <p:nvPr/>
        </p:nvSpPr>
        <p:spPr>
          <a:xfrm>
            <a:off x="715384" y="3632345"/>
            <a:ext cx="1922465" cy="657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/>
              <a:t>Таблица "Game"</a:t>
            </a:r>
            <a:endParaRPr lang="ru-RU"/>
          </a:p>
        </p:txBody>
      </p:sp>
      <p:pic>
        <p:nvPicPr>
          <p:cNvPr id="16" name="Рисунок 15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0C557E-95CD-3641-E00B-75F3737B04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77" t="77" r="-180" b="52160"/>
          <a:stretch>
            <a:fillRect/>
          </a:stretch>
        </p:blipFill>
        <p:spPr>
          <a:xfrm>
            <a:off x="864294" y="4288559"/>
            <a:ext cx="4490646" cy="1224248"/>
          </a:xfrm>
          <a:prstGeom prst="rect">
            <a:avLst/>
          </a:prstGeom>
        </p:spPr>
      </p:pic>
      <p:sp>
        <p:nvSpPr>
          <p:cNvPr id="18" name="Текст 2">
            <a:extLst>
              <a:ext uri="{FF2B5EF4-FFF2-40B4-BE49-F238E27FC236}">
                <a16:creationId xmlns:a16="http://schemas.microsoft.com/office/drawing/2014/main" id="{91E27228-1589-B4E0-C336-EC9CE4398A39}"/>
              </a:ext>
            </a:extLst>
          </p:cNvPr>
          <p:cNvSpPr txBox="1">
            <a:spLocks/>
          </p:cNvSpPr>
          <p:nvPr/>
        </p:nvSpPr>
        <p:spPr>
          <a:xfrm>
            <a:off x="5818474" y="3724707"/>
            <a:ext cx="2384284" cy="564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/>
              <a:t>Таблица "Developer"</a:t>
            </a:r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702190-BA40-FCA2-F036-C473709CB591}"/>
              </a:ext>
            </a:extLst>
          </p:cNvPr>
          <p:cNvSpPr txBox="1"/>
          <p:nvPr/>
        </p:nvSpPr>
        <p:spPr>
          <a:xfrm>
            <a:off x="9538126" y="3684495"/>
            <a:ext cx="200467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000" dirty="0"/>
              <a:t>Все почты и ссылки вымышлены</a:t>
            </a:r>
            <a:r>
              <a:rPr lang="ru-RU" sz="1000" dirty="0">
                <a:ea typeface="+mn-lt"/>
                <a:cs typeface="+mn-lt"/>
              </a:rPr>
              <a:t>, любые совпадения случайны.</a:t>
            </a:r>
          </a:p>
        </p:txBody>
      </p:sp>
      <p:pic>
        <p:nvPicPr>
          <p:cNvPr id="22" name="Рисунок 21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6EDCE3-F4B8-9F5C-9D0E-91ABF71B59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27" t="2484" b="46462"/>
          <a:stretch>
            <a:fillRect/>
          </a:stretch>
        </p:blipFill>
        <p:spPr>
          <a:xfrm>
            <a:off x="5813136" y="4383195"/>
            <a:ext cx="3740734" cy="1037381"/>
          </a:xfrm>
          <a:prstGeom prst="rect">
            <a:avLst/>
          </a:prstGeom>
        </p:spPr>
      </p:pic>
      <p:sp>
        <p:nvSpPr>
          <p:cNvPr id="24" name="Текст 2">
            <a:extLst>
              <a:ext uri="{FF2B5EF4-FFF2-40B4-BE49-F238E27FC236}">
                <a16:creationId xmlns:a16="http://schemas.microsoft.com/office/drawing/2014/main" id="{1A533F1B-1A7C-8A0E-8F9F-4F2F9667C180}"/>
              </a:ext>
            </a:extLst>
          </p:cNvPr>
          <p:cNvSpPr txBox="1">
            <a:spLocks/>
          </p:cNvSpPr>
          <p:nvPr/>
        </p:nvSpPr>
        <p:spPr>
          <a:xfrm>
            <a:off x="8704839" y="1692707"/>
            <a:ext cx="2349647" cy="426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/>
              <a:t>Таблица "</a:t>
            </a:r>
            <a:r>
              <a:rPr lang="ru-RU" sz="2000" err="1"/>
              <a:t>Publisher</a:t>
            </a:r>
            <a:r>
              <a:rPr lang="ru-RU" sz="2000" dirty="0"/>
              <a:t>"</a:t>
            </a:r>
            <a:endParaRPr lang="ru-RU"/>
          </a:p>
        </p:txBody>
      </p:sp>
      <p:pic>
        <p:nvPicPr>
          <p:cNvPr id="26" name="Рисунок 25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AFD8E03-E4AF-0EE5-C4E8-A265CA78749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827" r="-934" b="47678"/>
          <a:stretch>
            <a:fillRect/>
          </a:stretch>
        </p:blipFill>
        <p:spPr>
          <a:xfrm>
            <a:off x="8710396" y="2175163"/>
            <a:ext cx="3484900" cy="98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254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33064-C5EF-977C-1CBD-ED6C42534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067" y="929148"/>
            <a:ext cx="2020662" cy="749049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C01436-C598-D712-57FF-AA7E2D344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706146"/>
            <a:ext cx="3645766" cy="632242"/>
          </a:xfrm>
        </p:spPr>
        <p:txBody>
          <a:bodyPr>
            <a:normAutofit fontScale="92500"/>
          </a:bodyPr>
          <a:lstStyle/>
          <a:p>
            <a:r>
              <a:rPr lang="ru-RU" sz="3600" dirty="0"/>
              <a:t>Простая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B8DB85-74D3-0A93-1373-95AF5C262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3645766" cy="3423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Вывести данные об издателях, названия которых оканчиваются на “Games”</a:t>
            </a:r>
          </a:p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Решение: </a:t>
            </a:r>
          </a:p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SELECT * FROM </a:t>
            </a:r>
            <a:r>
              <a:rPr lang="ru-RU" dirty="0" err="1">
                <a:ea typeface="+mn-lt"/>
                <a:cs typeface="+mn-lt"/>
              </a:rPr>
              <a:t>Publisher</a:t>
            </a:r>
            <a:r>
              <a:rPr lang="ru-RU" dirty="0">
                <a:ea typeface="+mn-lt"/>
                <a:cs typeface="+mn-lt"/>
              </a:rPr>
              <a:t> WHERE </a:t>
            </a:r>
            <a:r>
              <a:rPr lang="ru-RU" dirty="0" err="1">
                <a:ea typeface="+mn-lt"/>
                <a:cs typeface="+mn-lt"/>
              </a:rPr>
              <a:t>name</a:t>
            </a:r>
            <a:r>
              <a:rPr lang="ru-RU" dirty="0">
                <a:ea typeface="+mn-lt"/>
                <a:cs typeface="+mn-lt"/>
              </a:rPr>
              <a:t> REGEXP 'Games$'</a:t>
            </a:r>
            <a:endParaRPr lang="ru-RU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CE74616-F94B-4C29-9239-B7FC65ACE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880D-B0C2-4937-B3BF-22F00DEDD095}" type="datetime1">
              <a:t>12.03.2026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A9ED5F-3C37-21A5-B3BC-5E892753E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391BA6-F155-56F8-B751-DBE1EAB97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6</a:t>
            </a:fld>
            <a:endParaRPr lang="en-US" dirty="0"/>
          </a:p>
        </p:txBody>
      </p:sp>
      <p:pic>
        <p:nvPicPr>
          <p:cNvPr id="11" name="Рисунок 10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4D78057-C78E-EAD6-640A-B0AF69217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340" y="2946895"/>
            <a:ext cx="6071484" cy="97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21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5C85D-91D3-8036-33FB-D62CBC7A3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A3A3C8-B77D-CA78-3641-DEA4E9E9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067" y="929148"/>
            <a:ext cx="2020662" cy="749049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56F54A-0921-15AF-6973-3FC367901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706146"/>
            <a:ext cx="3645766" cy="632242"/>
          </a:xfrm>
        </p:spPr>
        <p:txBody>
          <a:bodyPr>
            <a:normAutofit fontScale="92500"/>
          </a:bodyPr>
          <a:lstStyle/>
          <a:p>
            <a:r>
              <a:rPr lang="ru-RU" sz="3600" dirty="0"/>
              <a:t>Простая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CFF87C-D5B2-8A70-1205-DDD90474B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28165"/>
            <a:ext cx="5389129" cy="34006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>
                <a:ea typeface="+mn-lt"/>
                <a:cs typeface="+mn-lt"/>
              </a:rPr>
              <a:t>Вывести состояние самого богатого пользователя из таблицы User_data (по сумме networth и balance, вывести как total_wealth)</a:t>
            </a:r>
            <a:endParaRPr lang="ru-RU"/>
          </a:p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Решение: </a:t>
            </a:r>
          </a:p>
          <a:p>
            <a:pPr marL="0" indent="0">
              <a:buNone/>
            </a:pPr>
            <a:r>
              <a:rPr lang="ru-RU">
                <a:ea typeface="+mn-lt"/>
                <a:cs typeface="+mn-lt"/>
              </a:rPr>
              <a:t>SELECT MAX(networth + balance) as total_wealth FROM User_data</a:t>
            </a:r>
            <a:endParaRPr lang="ru-RU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DC55C15-8303-6F98-6CF8-B0B7C6E79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880D-B0C2-4937-B3BF-22F00DEDD095}" type="datetime1">
              <a:t>12.03.2026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B3FFDB3-8E18-6C59-99CA-61871F771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EEDA34A-E316-A575-B055-4C6379AE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7</a:t>
            </a:fld>
            <a:endParaRPr lang="en-US" dirty="0"/>
          </a:p>
        </p:txBody>
      </p:sp>
      <p:pic>
        <p:nvPicPr>
          <p:cNvPr id="5" name="Рисунок 4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0A7FD56-6E6B-6915-AABB-1C6DBB1BF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957" y="2544763"/>
            <a:ext cx="3011631" cy="176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59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E376-3F38-BEBF-493D-696885020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1490A9-CA13-2856-0D4A-6F28DE729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067" y="929148"/>
            <a:ext cx="2020662" cy="749049"/>
          </a:xfrm>
        </p:spPr>
        <p:txBody>
          <a:bodyPr>
            <a:normAutofit fontScale="90000"/>
          </a:bodyPr>
          <a:lstStyle/>
          <a:p>
            <a:pPr algn="ctr"/>
            <a:r>
              <a:rPr lang="ru-RU"/>
              <a:t>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A40FDD-397D-7CFE-C177-F719190DC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706146"/>
            <a:ext cx="3645766" cy="632242"/>
          </a:xfrm>
        </p:spPr>
        <p:txBody>
          <a:bodyPr>
            <a:normAutofit fontScale="92500"/>
          </a:bodyPr>
          <a:lstStyle/>
          <a:p>
            <a:r>
              <a:rPr lang="ru-RU" sz="3600" dirty="0"/>
              <a:t>Средняя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5AEF91-93C6-9E3C-D9A4-172B4A8EF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4732552" cy="3423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Вывести имя издателя, издавшего игру с названием “</a:t>
            </a:r>
            <a:r>
              <a:rPr lang="ru-RU" err="1">
                <a:ea typeface="+mn-lt"/>
                <a:cs typeface="+mn-lt"/>
              </a:rPr>
              <a:t>Spore</a:t>
            </a:r>
            <a:r>
              <a:rPr lang="ru-RU" dirty="0">
                <a:ea typeface="+mn-lt"/>
                <a:cs typeface="+mn-lt"/>
              </a:rPr>
              <a:t>” </a:t>
            </a:r>
          </a:p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Решение: </a:t>
            </a:r>
          </a:p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SELECT </a:t>
            </a:r>
            <a:r>
              <a:rPr lang="ru-RU" dirty="0" err="1">
                <a:ea typeface="+mn-lt"/>
                <a:cs typeface="+mn-lt"/>
              </a:rPr>
              <a:t>name</a:t>
            </a:r>
            <a:r>
              <a:rPr lang="ru-RU" dirty="0">
                <a:ea typeface="+mn-lt"/>
                <a:cs typeface="+mn-lt"/>
              </a:rPr>
              <a:t> FROM </a:t>
            </a:r>
            <a:r>
              <a:rPr lang="ru-RU" dirty="0" err="1">
                <a:ea typeface="+mn-lt"/>
                <a:cs typeface="+mn-lt"/>
              </a:rPr>
              <a:t>Publisher</a:t>
            </a:r>
            <a:r>
              <a:rPr lang="ru-RU" dirty="0">
                <a:ea typeface="+mn-lt"/>
                <a:cs typeface="+mn-lt"/>
              </a:rPr>
              <a:t> WHERE </a:t>
            </a:r>
            <a:r>
              <a:rPr lang="ru-RU" dirty="0" err="1">
                <a:ea typeface="+mn-lt"/>
                <a:cs typeface="+mn-lt"/>
              </a:rPr>
              <a:t>id</a:t>
            </a:r>
            <a:r>
              <a:rPr lang="ru-RU" dirty="0">
                <a:ea typeface="+mn-lt"/>
                <a:cs typeface="+mn-lt"/>
              </a:rPr>
              <a:t> = (SELECT </a:t>
            </a:r>
            <a:r>
              <a:rPr lang="ru-RU" dirty="0" err="1">
                <a:ea typeface="+mn-lt"/>
                <a:cs typeface="+mn-lt"/>
              </a:rPr>
              <a:t>publisher</a:t>
            </a:r>
            <a:r>
              <a:rPr lang="ru-RU" dirty="0">
                <a:ea typeface="+mn-lt"/>
                <a:cs typeface="+mn-lt"/>
              </a:rPr>
              <a:t> FROM Game WHERE </a:t>
            </a:r>
            <a:r>
              <a:rPr lang="ru-RU" dirty="0" err="1">
                <a:ea typeface="+mn-lt"/>
                <a:cs typeface="+mn-lt"/>
              </a:rPr>
              <a:t>name</a:t>
            </a:r>
            <a:r>
              <a:rPr lang="ru-RU" dirty="0">
                <a:ea typeface="+mn-lt"/>
                <a:cs typeface="+mn-lt"/>
              </a:rPr>
              <a:t> = '</a:t>
            </a:r>
            <a:r>
              <a:rPr lang="ru-RU" dirty="0" err="1">
                <a:ea typeface="+mn-lt"/>
                <a:cs typeface="+mn-lt"/>
              </a:rPr>
              <a:t>Spore</a:t>
            </a:r>
            <a:r>
              <a:rPr lang="ru-RU" dirty="0">
                <a:ea typeface="+mn-lt"/>
                <a:cs typeface="+mn-lt"/>
              </a:rPr>
              <a:t>')</a:t>
            </a:r>
            <a:endParaRPr lang="ru-RU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0CF920E-7062-7734-1E7E-43FF043E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880D-B0C2-4937-B3BF-22F00DEDD095}" type="datetime1">
              <a:t>12.03.2026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3521E08-80C6-98C9-091A-82580D6F0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002009-E701-B038-4BD8-20ED70358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8</a:t>
            </a:fld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BCCF50-14E9-1752-787E-D0EAD923F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795" y="2343150"/>
            <a:ext cx="2453409" cy="279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565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12042-5016-49B8-A112-629115629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0EAAE-7530-C128-8AEE-9928BFBFA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067" y="929148"/>
            <a:ext cx="2020662" cy="749049"/>
          </a:xfrm>
        </p:spPr>
        <p:txBody>
          <a:bodyPr>
            <a:normAutofit fontScale="90000"/>
          </a:bodyPr>
          <a:lstStyle/>
          <a:p>
            <a:pPr algn="ctr"/>
            <a:r>
              <a:rPr lang="ru-RU"/>
              <a:t>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26B9EE-736B-4561-1967-2D6A91175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706146"/>
            <a:ext cx="3645766" cy="632242"/>
          </a:xfrm>
        </p:spPr>
        <p:txBody>
          <a:bodyPr>
            <a:normAutofit fontScale="92500"/>
          </a:bodyPr>
          <a:lstStyle/>
          <a:p>
            <a:r>
              <a:rPr lang="ru-RU" sz="3600" dirty="0"/>
              <a:t>Средняя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955219-8663-291E-D2DB-03B49DC3F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4557856" cy="3423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>
                <a:ea typeface="+mn-lt"/>
                <a:cs typeface="+mn-lt"/>
              </a:rPr>
              <a:t>Вывести username игроков из таблицы User_data, у которых в библиотеке есть игра с индексом 3</a:t>
            </a:r>
            <a:endParaRPr lang="ru-RU"/>
          </a:p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Решение: </a:t>
            </a:r>
          </a:p>
          <a:p>
            <a:pPr marL="0" indent="0">
              <a:buNone/>
            </a:pPr>
            <a:r>
              <a:rPr lang="ru-RU">
                <a:ea typeface="+mn-lt"/>
                <a:cs typeface="+mn-lt"/>
              </a:rPr>
              <a:t>SELECT username FROM User_data WHERE id IN (SELECT player FROM Library_page WHERE game = 3)</a:t>
            </a:r>
            <a:endParaRPr lang="ru-RU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B8237F6-CC16-129C-DE5F-633C8A6E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880D-B0C2-4937-B3BF-22F00DEDD095}" type="datetime1">
              <a:t>12.03.2026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28B015D-D86E-352C-346F-3E41908C6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0216B61-0E9A-02BA-588B-BF590A5F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9</a:t>
            </a:fld>
            <a:endParaRPr lang="en-US" dirty="0"/>
          </a:p>
        </p:txBody>
      </p:sp>
      <p:pic>
        <p:nvPicPr>
          <p:cNvPr id="6" name="Рисунок 5" descr="Изображение выглядит как текст, Шриф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B3E81E9-077E-76F8-1CA8-8FF26F0D7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823" y="2510270"/>
            <a:ext cx="4025900" cy="217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93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272FB-A740-54A4-5AC0-A6AE32661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5C94E8-F50D-E5C8-C333-E40CA1B3A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067" y="929148"/>
            <a:ext cx="2020662" cy="749049"/>
          </a:xfrm>
        </p:spPr>
        <p:txBody>
          <a:bodyPr>
            <a:normAutofit fontScale="90000"/>
          </a:bodyPr>
          <a:lstStyle/>
          <a:p>
            <a:pPr algn="ctr"/>
            <a:r>
              <a:rPr lang="ru-RU"/>
              <a:t>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90F97C-2FD5-B89D-2CE3-A2C4FC9EC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706146"/>
            <a:ext cx="3645766" cy="632242"/>
          </a:xfrm>
        </p:spPr>
        <p:txBody>
          <a:bodyPr>
            <a:normAutofit fontScale="92500"/>
          </a:bodyPr>
          <a:lstStyle/>
          <a:p>
            <a:r>
              <a:rPr lang="ru-RU" sz="3600" dirty="0"/>
              <a:t>Сложная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DA7D90-B447-75CE-7B69-C4CC2DAC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Вывести имена (</a:t>
            </a:r>
            <a:r>
              <a:rPr lang="ru-RU" err="1">
                <a:ea typeface="+mn-lt"/>
                <a:cs typeface="+mn-lt"/>
              </a:rPr>
              <a:t>username</a:t>
            </a:r>
            <a:r>
              <a:rPr lang="ru-RU" dirty="0">
                <a:ea typeface="+mn-lt"/>
                <a:cs typeface="+mn-lt"/>
              </a:rPr>
              <a:t>) игроков, которые в своей библиотеке имеют игру с названием “ULTRAKILL” </a:t>
            </a:r>
          </a:p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Решение:</a:t>
            </a:r>
          </a:p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 SELECT </a:t>
            </a:r>
            <a:r>
              <a:rPr lang="ru-RU" err="1">
                <a:ea typeface="+mn-lt"/>
                <a:cs typeface="+mn-lt"/>
              </a:rPr>
              <a:t>username</a:t>
            </a:r>
            <a:r>
              <a:rPr lang="ru-RU" dirty="0">
                <a:ea typeface="+mn-lt"/>
                <a:cs typeface="+mn-lt"/>
              </a:rPr>
              <a:t> FROM </a:t>
            </a:r>
            <a:r>
              <a:rPr lang="ru-RU" err="1">
                <a:ea typeface="+mn-lt"/>
                <a:cs typeface="+mn-lt"/>
              </a:rPr>
              <a:t>User_data</a:t>
            </a:r>
            <a:r>
              <a:rPr lang="ru-RU" dirty="0">
                <a:ea typeface="+mn-lt"/>
                <a:cs typeface="+mn-lt"/>
              </a:rPr>
              <a:t> WHERE </a:t>
            </a:r>
            <a:r>
              <a:rPr lang="ru-RU" err="1">
                <a:ea typeface="+mn-lt"/>
                <a:cs typeface="+mn-lt"/>
              </a:rPr>
              <a:t>id</a:t>
            </a:r>
            <a:r>
              <a:rPr lang="ru-RU" dirty="0">
                <a:ea typeface="+mn-lt"/>
                <a:cs typeface="+mn-lt"/>
              </a:rPr>
              <a:t> IN (SELECT </a:t>
            </a:r>
            <a:r>
              <a:rPr lang="ru-RU" err="1">
                <a:ea typeface="+mn-lt"/>
                <a:cs typeface="+mn-lt"/>
              </a:rPr>
              <a:t>player</a:t>
            </a:r>
            <a:r>
              <a:rPr lang="ru-RU" dirty="0">
                <a:ea typeface="+mn-lt"/>
                <a:cs typeface="+mn-lt"/>
              </a:rPr>
              <a:t> FROM </a:t>
            </a:r>
            <a:r>
              <a:rPr lang="ru-RU" err="1">
                <a:ea typeface="+mn-lt"/>
                <a:cs typeface="+mn-lt"/>
              </a:rPr>
              <a:t>Library_page</a:t>
            </a:r>
            <a:r>
              <a:rPr lang="ru-RU" dirty="0">
                <a:ea typeface="+mn-lt"/>
                <a:cs typeface="+mn-lt"/>
              </a:rPr>
              <a:t> WHERE </a:t>
            </a:r>
            <a:r>
              <a:rPr lang="ru-RU" err="1">
                <a:ea typeface="+mn-lt"/>
                <a:cs typeface="+mn-lt"/>
              </a:rPr>
              <a:t>game</a:t>
            </a:r>
            <a:r>
              <a:rPr lang="ru-RU" dirty="0">
                <a:ea typeface="+mn-lt"/>
                <a:cs typeface="+mn-lt"/>
              </a:rPr>
              <a:t> = (SELECT </a:t>
            </a:r>
            <a:r>
              <a:rPr lang="ru-RU" err="1">
                <a:ea typeface="+mn-lt"/>
                <a:cs typeface="+mn-lt"/>
              </a:rPr>
              <a:t>id</a:t>
            </a:r>
            <a:r>
              <a:rPr lang="ru-RU" dirty="0">
                <a:ea typeface="+mn-lt"/>
                <a:cs typeface="+mn-lt"/>
              </a:rPr>
              <a:t> FROM Game WHERE </a:t>
            </a:r>
            <a:r>
              <a:rPr lang="ru-RU" err="1">
                <a:ea typeface="+mn-lt"/>
                <a:cs typeface="+mn-lt"/>
              </a:rPr>
              <a:t>name</a:t>
            </a:r>
            <a:r>
              <a:rPr lang="ru-RU" dirty="0">
                <a:ea typeface="+mn-lt"/>
                <a:cs typeface="+mn-lt"/>
              </a:rPr>
              <a:t> = 'ULTRAKILL'))</a:t>
            </a:r>
            <a:endParaRPr lang="ru-RU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C8022D5-B68A-F967-B931-087959EDB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880D-B0C2-4937-B3BF-22F00DEDD095}" type="datetime1">
              <a:t>12.03.2026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5F7CF3-D031-A068-1FE6-9A38FC843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1755170-146E-0267-2E86-213D27E36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10</a:t>
            </a:fld>
            <a:endParaRPr lang="en-US" dirty="0"/>
          </a:p>
        </p:txBody>
      </p:sp>
      <p:pic>
        <p:nvPicPr>
          <p:cNvPr id="6" name="Рисунок 5" descr="Изображение выглядит как текст, Шрифт, снимок экрана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FAF7D99-208E-38C3-5068-634583335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949" y="2335068"/>
            <a:ext cx="4274415" cy="218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94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B717D-6891-5320-A775-0D51CD0D7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8CAA4D-A031-4D64-FDD3-ADAF8C6D7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067" y="929148"/>
            <a:ext cx="2020662" cy="749049"/>
          </a:xfrm>
        </p:spPr>
        <p:txBody>
          <a:bodyPr>
            <a:normAutofit fontScale="90000"/>
          </a:bodyPr>
          <a:lstStyle/>
          <a:p>
            <a:pPr algn="ctr"/>
            <a:r>
              <a:rPr lang="ru-RU"/>
              <a:t>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F28BBF-1E8D-9BD9-91BC-9F537C8CE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706146"/>
            <a:ext cx="3645766" cy="632242"/>
          </a:xfrm>
        </p:spPr>
        <p:txBody>
          <a:bodyPr>
            <a:normAutofit fontScale="92500"/>
          </a:bodyPr>
          <a:lstStyle/>
          <a:p>
            <a:r>
              <a:rPr lang="ru-RU" sz="3600" dirty="0"/>
              <a:t>Сложная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9A501D3-DDF3-093B-574B-AD6619A66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30058"/>
            <a:ext cx="5507044" cy="33987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>
                <a:ea typeface="+mn-lt"/>
                <a:cs typeface="+mn-lt"/>
              </a:rPr>
              <a:t>Вывести цену самой дешёвой игры, которую приобрёл пользователь с username 'PIROZHOK_OCHEN_VKUSNIY'</a:t>
            </a:r>
            <a:endParaRPr lang="ru-RU"/>
          </a:p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Решение:</a:t>
            </a:r>
          </a:p>
          <a:p>
            <a:pPr marL="0" indent="0">
              <a:buNone/>
            </a:pPr>
            <a:r>
              <a:rPr lang="ru-RU">
                <a:ea typeface="+mn-lt"/>
                <a:cs typeface="+mn-lt"/>
              </a:rPr>
              <a:t> SELECT MIN(price) FROM Game WHERE id IN (SELECT game FROM Library_page WHERE player = (SELECT id FROM User_data WHERE username = 'PIROZHOK_OCHEN_VKUSNIY')) 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217D322-C873-2333-6636-C1DB31D33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880D-B0C2-4937-B3BF-22F00DEDD095}" type="datetime1">
              <a:t>12.03.2026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DCF2257-7AF8-DFF0-3E54-0171457A6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E143CBA-8C5B-485F-C917-9AE35351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11</a:t>
            </a:fld>
            <a:endParaRPr lang="en-US" dirty="0"/>
          </a:p>
        </p:txBody>
      </p:sp>
      <p:pic>
        <p:nvPicPr>
          <p:cNvPr id="5" name="Рисунок 4" descr="Изображение выглядит как текст, Шрифт, снимок экрана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DCB0BB-A4B7-17F1-3BD2-5D53A01B8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316" y="2543019"/>
            <a:ext cx="2773336" cy="177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75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1C6E0-3473-00A8-8230-54DD5D9EE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ED85E5-3F87-6E49-B530-6512E1CEF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/>
              <a:t>Заключение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07F812-444C-2E54-33FD-B9AA013DD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369" y="1705600"/>
            <a:ext cx="10841043" cy="394843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ru-RU" sz="2800">
                <a:ea typeface="+mn-lt"/>
                <a:cs typeface="+mn-lt"/>
              </a:rPr>
              <a:t>Создана база данных, хранящая информацию для онлайн-сервиса видеоигр. Хранятся данные о пользователях, играх, разработчиках и издателях. Для развития проекта может быть расширен диапазон хранящихся данных имеющихся таблиц (например, список желаемых товаров игроков, скидки на товары в магазине) и могут быть созданы новые таблицы для хранения новой информации (например, информация о сообществах пользователей внутри сервиса).</a:t>
            </a:r>
            <a:endParaRPr lang="ru-RU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506DC1F-C4C0-D578-3264-816DDB22C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A2B96-6272-4052-9D94-6A9AC76AB3A7}" type="datetime1">
              <a:t>12.03.2026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9D2DA1-C844-FC3A-3364-45F56C4D8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D34B07C-D0B2-3BFD-F9E0-B525D2368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987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9E37E1-CE47-A8E3-6A23-DCA1D5392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208" y="834653"/>
            <a:ext cx="4907562" cy="114617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ru-RU" dirty="0"/>
              <a:t>Спасибо за внимание!</a:t>
            </a: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BE246DA-18D8-88EA-1F22-8AC2F898B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B3D-51C6-4A8D-8B24-0505E919C23F}" type="datetime1">
              <a:t>12.03.2026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023B223-A93D-3A85-CB8E-BFEB8BFC3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663E524-3A32-FF7D-796D-AAB9F349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13</a:t>
            </a:fld>
            <a:endParaRPr lang="en-US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2CC5DDD-29F8-1EC2-75B6-D744B858198C}"/>
              </a:ext>
            </a:extLst>
          </p:cNvPr>
          <p:cNvSpPr txBox="1">
            <a:spLocks/>
          </p:cNvSpPr>
          <p:nvPr/>
        </p:nvSpPr>
        <p:spPr>
          <a:xfrm>
            <a:off x="3638706" y="4996923"/>
            <a:ext cx="4907562" cy="1146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Поставьте 5 пожалуйста!</a:t>
            </a:r>
          </a:p>
        </p:txBody>
      </p:sp>
      <p:pic>
        <p:nvPicPr>
          <p:cNvPr id="8" name="Рисунок 7" descr="Picture background">
            <a:extLst>
              <a:ext uri="{FF2B5EF4-FFF2-40B4-BE49-F238E27FC236}">
                <a16:creationId xmlns:a16="http://schemas.microsoft.com/office/drawing/2014/main" id="{28E8C64D-BDE7-BF40-C53A-E44B026AE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592" y="2362512"/>
            <a:ext cx="4911308" cy="212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75600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ChronicleVTI</vt:lpstr>
      <vt:lpstr>База данных онлайн-сервиса для видеоигр</vt:lpstr>
      <vt:lpstr>ЧТО ЗА ПРОЕКТ?</vt:lpstr>
      <vt:lpstr>Что за проект?</vt:lpstr>
      <vt:lpstr>Что за проект?</vt:lpstr>
      <vt:lpstr>данные</vt:lpstr>
      <vt:lpstr>ЗАДАЧИ</vt:lpstr>
      <vt:lpstr>ЗАДАЧИ</vt:lpstr>
      <vt:lpstr>ЗАДАЧИ</vt:lpstr>
      <vt:lpstr>ЗАДАЧИ</vt:lpstr>
      <vt:lpstr>ЗАДАЧИ</vt:lpstr>
      <vt:lpstr>ЗАДАЧИ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314</cp:revision>
  <dcterms:created xsi:type="dcterms:W3CDTF">2026-03-11T16:39:33Z</dcterms:created>
  <dcterms:modified xsi:type="dcterms:W3CDTF">2026-03-12T17:07:50Z</dcterms:modified>
</cp:coreProperties>
</file>